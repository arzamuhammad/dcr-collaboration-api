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98952" cy="548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331720"/>
            <a:ext cx="914400" cy="457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822960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1B2A3D"/>
                </a:solidFill>
                <a:latin typeface="Calibri Light"/>
              </a:rPr>
              <a:t>SNOWFLAKE DATA CLEAN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82296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sz="2200" b="0" i="0">
                <a:solidFill>
                  <a:srgbClr val="11567F"/>
                </a:solidFill>
                <a:latin typeface="Segoe UI"/>
              </a:rPr>
              <a:t>Audience Overlap via Collaboration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94960"/>
            <a:ext cx="256032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5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Ardiyan Muhammad | Apr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sz="3400" b="1" i="0">
                <a:solidFill>
                  <a:srgbClr val="1B2A3D"/>
                </a:solidFill>
                <a:latin typeface="Calibri Light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911535" cy="53721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9903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What is Snowflake DCR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00250"/>
            <a:ext cx="10911535" cy="53721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09169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9169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02768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DCR Collaboration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28900"/>
            <a:ext cx="10911535" cy="53721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27203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7203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65633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Architecture Overview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57550"/>
            <a:ext cx="10911535" cy="53721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34899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4899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8498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86200"/>
            <a:ext cx="10911535" cy="53721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977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1363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Provider Workflow + 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14850"/>
            <a:ext cx="10911535" cy="53721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60629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0629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54228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Consumer Workflow +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43500"/>
            <a:ext cx="10911535" cy="53721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2349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49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17093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Full-Scan Performance Benchmark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772150"/>
            <a:ext cx="10911535" cy="537210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86359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6359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799582"/>
            <a:ext cx="9601200" cy="57378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2C3E50"/>
                </a:solidFill>
                <a:latin typeface="Segoe UI"/>
              </a:rPr>
              <a:t>Summary &amp; References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 / 60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WHAT IS SNOWFLAKE DCR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Snowflake Data Clean Room (DCR)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Secure multi-party collaboration environment — run analysis across datasets owned by different parties without exposing raw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Data TIDAK berpindah — tetap di akun masing-masing; hanya hasil agregat yang dibagi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Policy-driven governance — kontrol kolom/baris, purpose binding, privacy thresholding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Audit-ready — seluruh akses &amp; query tercatat di ACCESS_HISTORY / QUERY_HISTORY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Use cases — audience overlap, activation, attribution, propensity modelling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 / 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Why Clean Rooms Matter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Privacy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Comply UU PDP 27/2022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POJK 5/POJK.03/2022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No PII exchange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Value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Monetize data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Enrich insights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Joint analytics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Control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Pre-approved templates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Column/row policies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Full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 / 60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DCR COLLABORATION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Dua Opsi Snowflake DCR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863574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905658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DCR Native App (v1) — legacy, UI-driven di Marketplace, setup manual per kolaborasi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863574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34458" y="2011680"/>
            <a:ext cx="502920" cy="50292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4458" y="2011680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834640"/>
            <a:ext cx="2905658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DCR Collaboration API (v2) — programmatic, YAML-driven, symmetric multi-party roles, fully supported via stored procedures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863574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63076" y="2011680"/>
            <a:ext cx="502920" cy="50292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3076" y="2011680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2834640"/>
            <a:ext cx="2905658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Rekomendasi proyek baru — pakai Collaboration API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7 / 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Anatomi DCR Collaboration API v2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Owner — membuat collaboration, mendefinisikan peserta &amp; peran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Data Provider — membagikan data_offering (YAML spec) dengan column-level policies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Analysis Runner — menjalankan template (standard atau custom) di atas data provider + data lokal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Templates — standard_audience_overlap_v0 &amp; standard_audience_overlap_activation_v0 atau custom sql_analysis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Activation Destination — tujuan export hasil (Snowflake account atau LiveRamp)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8 / 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ARCHITECTURE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DATA FLOW ARCHITECTURE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Zero Data Movement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Two accounts, one virtual clean room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Provider Snowflake Acct (data tetap di-account-nya)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↓ policy-controlled view share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DCR Collaboration Layer (virtual)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· Matching logic via p1./c1. aliases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· Privacy thresholding (min 5 distinct)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· Audit trail via ACCESS_HISTORY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↑ policy-controlled view share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Consumer Snowflake Acct (audience table)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↓ activation share (output only)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Consumer receives 5.6M matched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10 /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YAML-DRIVEN DESIGN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3 YAML Specs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api_version: 2.0.0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1. data_offering — column policies per account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2. collaboration — roles + templates + destinations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3. analysis — view mappings + join clauses + args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Benefits: Git-versionable, code-reviewable, CI/CD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11 / 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Prerequisite Installation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Snowflake Data Clean Room native app WAJIB terinstall di setiap account — tersedia di Snowflake Marketplace (SAMOOHA by Snowflake)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Verifikasi: SHOW DATABASES LIKE 'SAMOOHA_BY_SNOWFLAKE_LOCAL_DB%';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Role SAMOOHA_APP_ROLE tersedia (ACCOUNTADMIN bisa inherit)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Semua account di region yang sama (cross-region menambah latency replikasi)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Tabel sumber populated dengan join key ter-hash (SHA-256) konsisten antar pihak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13 / 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Install Snowflake Data Clean Room Native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1 — Buka Snowsight → Marketplace → search 'SAMOOHA by Snowflake'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2 — Klik Get → pilih target database name (default: SAMOOHA_BY_SNOWFLAKE_LOCAL_DB)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3 — Grant privileges saat install wizard: CREATE DATABASE, CREATE WAREHOUSE, IMPORTED PRIVILEGES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4 — Tunggu provisioning ~2 menit — akan otomatis create warehouse SAMOOHA_TASK_WAREHOUSE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5 — Register built-in templates: CALL REGISTRY.REGISTER_STANDARD_DCR_TEMPLATES()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14 / 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PROVIDER WORKFLOW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Provider — Step 1. Grants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GRANT ROLE SAMOOHA_APP_ROLE TO USER provider_user;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8775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GRANT USAGE, SELECT di database &amp; schema ke SAMOOHA_APP_ROLE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4787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Penjelasan: Role SAMOOHA_APP_ROLE adalah principal execution DCR. Tanpa grant ini, procedure CALL akan gagal 'Insufficient privileges'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0799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Penting: GRANT REFERENCE_USAGE TO SHARE SAMOOHA_BY_SNOWFLAKE_APP_SHARE adalah pattern legacy v1, SKIP untuk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16 / 60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Provider — Step 2. Register Standard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CALL SAMOOHA_BY_SNOWFLAKE_LOCAL_DB.REGISTRY.REGISTER_STANDARD_DCR_TEMPLATES();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8775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Penjelasan: Mendaftarkan template bawaan standard_audience_overlap_v0 dan standard_audience_overlap_activation_v0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4787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Wajib dijalankan SEKALI per account (idempotent, aman re-run)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0799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Tanpa step ini, INITIALIZE akan error 'Templates ... do not exist'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17 / 60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Provider — Step 3. Register Data Offering (part 1)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CALL REGISTRY.REGISTER_DATA_OFFERING(yaml_spec_string);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YAML berisi datasets, alias, data_object_fqn, dan schema_and_template_policies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HASHED_MSISDN → join_standard, column_type: hashed_phone_sha256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DATE_PARTITION → passthrough (activation_allowed: true)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999 kolom lain → passthrough (all shared for analysis &amp; activation)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18 / 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Provider — Step 3. Register Data Offering (part 2)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GOTCHA — YAML spec &gt; 256 bytes TIDAK bisa SET ke session variable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8775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Solusi — build YAML di Python client, pass sebagai procedure argument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4787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Sample Python — cur.execute('CALL REGISTER_DATA_OFFERING(%s)', (spec_string,))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0799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GOTCHA — column_type hanya menerima PII types (email, phone, device_id, ip, name). Kolom selain itu wajib passthrough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19 / 60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Provider — Step 4. Initialize Collaboration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CALL COLLABORATION.INITIALIZE(collab_yaml_spec, 'GEN2_SMALL');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YAML berisi name, description, collaborator_identifier_aliases, owner, analysis_runners, templates, activation_destinations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Penjelasan: Membuat virtual clean room. Owner auto-join setelah provisioning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Status progression: CREATING → CREATED (~9 min) → INSTALLING (~9.2 min) → JOINED (~12 min)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Monitor via: CALL COLLABORATION.GET_STATUS('collab_name');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20 / 60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PROVIDER SPEC — SAMPLE YAML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data_offering YAML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Column policies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api_version: 2.0.0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spec_type: data_offering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name: telco_c360_offering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version: v1_0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datasets: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- alias: c360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data_object_fqn: DB.SCHEMA.TABLE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schema_and_template_policies: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HASHED_MSISDN: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category: join_standard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column_type: hashed_phone_sha256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DATE_PARTITION: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category: passthrough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21 / 60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CONSUMER WORKFLOW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Consumer — Step 1-2. Grants + Register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GRANT USAGE/SELECT ke local audience table untuk SAMOOHA_APP_ROLE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8775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CALL REGISTRY.REGISTER_STANDARD_DCR_TEMPLATES();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4787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Penjelasan: Template DCR standard juga WAJIB diregister di akun consumer (bukan warisan dari provider)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0799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Tanpa ini, RUN analysis/activation akan fail 'Template not found'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23 / 60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Consumer — Step 3-5. View + Review + Join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3 Code: CALL COLLABORATION.VIEW_COLLABORATIONS();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Penjelasan: Lihat invitation dengan COLLABORATION_NAME=NULL (belum di-review)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4 Code: CALL COLLABORATION.REVIEW(source_name, owner_account, local_name);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Step 5 Code: CALL COLLABORATION.JOIN(local_name);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Tunggu via GET_STATUS sampai CONSUMER = JOINED (~22 detik di region sama)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24 / 60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Consumer — Step 6. Register Local Data Offering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CALL REGISTRY.REGISTER_DATA_OFFERING(audience_yaml_spec);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1460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8775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YAML berisi HASHED_MSISDN (join_standard) + 5 attribute passthrough (CUSTOMER_TIER, SEGMENT, PROPENSITY, LAST_CAMPAIGN, CHANNEL_PREF) + DATE_PARTITION passthrough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11535" cy="85039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61188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1188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4787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activation_allowed: true di semua kolom kalau ingin ikut ter-export ke segment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34840"/>
            <a:ext cx="10911535" cy="85039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07992"/>
            <a:ext cx="9601200" cy="81381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Setelah register → returns offering_id 'consumer_marketing_audience_v1_0'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25 / 60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Consumer — Step 7. Link Local Offering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863574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905658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Code: CALL COLLABORATION.LINK_LOCAL_DATA_OFFERING(collab_name, offering_id_v1_0);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554480"/>
            <a:ext cx="863574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34458" y="2011680"/>
            <a:ext cx="502920" cy="50292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4458" y="2011680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2834640"/>
            <a:ext cx="2905658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Penjelasan: Bind local data offering ke collaboration — hanya visible di akun consumer dengan alias LOCAL.*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1554480"/>
            <a:ext cx="3454298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554480"/>
            <a:ext cx="863574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63076" y="2011680"/>
            <a:ext cx="502920" cy="50292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3076" y="2011680"/>
            <a:ext cx="502920" cy="502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1636" y="2834640"/>
            <a:ext cx="2905658" cy="2926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i="0">
                <a:solidFill>
                  <a:srgbClr val="2C3E50"/>
                </a:solidFill>
                <a:latin typeface="Segoe UI"/>
              </a:rPr>
              <a:t>Setelah link, shared view akan punya prefix 'LOCAL.' (dalam join spec pakai alias c1.)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26 / 60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Consumer — Step 8. Run Analysis Template (sample code)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Code: CALL COLLABORATION.RUN(collab_name, analysis_yaml_spec);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view_mappings.source_tables = ['PROVIDER.telco_c360_offering_v1_0.c360']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local_view_mappings.my_tables = ['LOCAL.consumer_marketing_audience_v1_0.audience']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join_clauses = ['p1.HASHED_PHONE_SHA256 = c1.HASHED_PHONE_SHA256']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GOTCHA — gunakan column_type alias (HASHED_PHONE_SHA256), bukan original name (HASHED_MSISDN)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Partition matching via my_where_clause + source_where_clause (DATE_PARTITION passthrough tidak bisa di join_clauses)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27 / 60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Consumer — Step 9. Run Activation + Materialize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Code: CALL COLLABORATION.RUN(collab, activation_yaml_spec);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Output: SFDCR_&lt;collab&gt;.ACTIVATION.SEGMENT_RECORDS dengan kolom VARIANT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activation_column format: ['c1.CUSTOMER_TIER', 'c1.SEGMENT', 'p1.DATE_PARTITION', ...]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Materialize flat: SELECT RECORDS:ID:"c1.&lt;col&gt;"::STRING FROM SEGMENT_RECORDS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Hasil — 5.6M matched records (700k × 8 partisi) siap untuk campaign targeting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28 / 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FULL-SCAN BENCHMARK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Test Dataset Profile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Provider — DCR_POC_1M.PROVIDER_DATA.C360_TELCO — 1.2B rows × 1001 cols (8 weekly partisi × 150M rows)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Provider storage — ~2.4 TB uncompressed → ~500 GB compressed (≈4.8× Snowflake compression)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Consumer — DCR_CONSUMER_1M.DATA.MARKETING_AUDIENCE_DCR_DEMO — 8M rows × 7 cols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Consumer storage — ~560 MB uncompressed → 66.7 MB compressed (≈8.4× compression)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Clustering — keduanya CLUSTER BY (DATE_PARTITION) — scan per partisi optimal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Join key — HASHED_MSISDN (SHA-256) + DATE_PARTITION (via where_clause)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30 / 60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Provider Setup on GEN2_MEDIUM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79s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Sync workflow total (setup + register + initialize)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13.6s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REGISTER_DATA_OFFERING (1001 cols, 69KB YAML)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30s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INITIALIZE collaboration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12m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Async owner auto-join (backend provisioning)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31 / 60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Single-Query Full-Scan on GEN2_XLARGE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57s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Single-query analysis (1.2B × 8M join, one RUN call)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79s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Single-query activation (export all matches)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2m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16s Total end-to-end (1.2B × 8M full scan)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3.37M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Unique audience tuples activated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32 / 60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Single-Query Analysis (GEN2_XLARGE)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Mode — 1 CALL COLLABORATION.RUN() menggabungkan seluruh 1.2B × 8M dalam satu query SQL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Wall time — 56.95 s (server 56.5 s) — satu hash build 8M × satu probe 1.2B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Output — k-anonymized overlap summary (3 rows): overlap / non-overlap count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Rows scanned — 1,200,000,000 provider × 8,000,000 consumer, full pipelined join di XL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Query ID — 01c3fae1-…-067432 (reproducible di QUERY_HISTORY)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NO partition loop, NO filter — satu query saja, XL warehouse full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33 / 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Single-Query Activation (GEN2_XLARGE)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Mode — 1 CALL RUN() template activation, tidak ada where_clause partisi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Wall time — 79.41 s (server 79.0 s) — export semua matched records ke share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Rows exported — 44.8M raw (cartesian expansion MSISDN × 8 provider × 8 consumer partisi)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Unique audience — 3,368,817 distinct consumer value tuples (setelah DISTINCT)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Downstream — SELECT DISTINCT di landing view ~2 s menghasilkan audience final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Query ID — 01c3fae2-…-06755a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34 / 60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Single-Query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Single-Query (1 RUN call) ✓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57s analysis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79s activation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136s total (2 min 16 s)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0.61 credits @ XL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●  3.37M unique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35 / 60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Performance Insights — Kenapa Single-Query 5× Lebih Cepat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Overhead per RUN call — secure_run_v2 wrapper ~5–10 s + policy validation + YAML parse × 8 calls = 60–80 s dead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Optimizer efficiency — 1 hash build (8M consumer) + 1 pipelined probe 1.2B, vs 8× build/scan di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Warehouse utilization — single-query saturate XL penuh; loop per-partisi under-utilize XL (hanya 150M/call)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Commit amortization — 1× INSERT to share vs 8× commit cycles ke SFDCR..SEGMENT_RECORDS (kenapa activation 5.9× vs analysis 3.7×)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Unique audience identik — 3.37M distinct tuples di kedua mode; selisih raw rows murni cartesian, tinggal DISTINCT downstream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36 / 60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FULL-COLUMNS ACTIVATION BENCHMARK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Use Case — Export 1000+ Provider Columns untuk ML / Customer 360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Activation minimal (6 cols) — cocok untuk campaign targeting: consumer butuh tahu siapa yang match + atribut consumer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Activation full-columns (1007 cols) — cocok untuk ML / scoring / feature store: butuh SELURUH atribut provider + consumer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Challenge — YAML spec dengan 1000+ activation_column &gt; 256 byte session variable limit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Solution — Snowflake Scripting anonymous block, build spec dinamis via LISTAGG, bypass 256B limit tanpa Python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Output — VARIANT RECORDS dengan 1007 keys per record, ~900 GB raw payload untuk 44.8M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38 / 60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Activation 6 cols — GEN2_XLARGE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22143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29B5E8"/>
                </a:solidFill>
                <a:latin typeface="Calibri Light"/>
              </a:rPr>
              <a:t>79s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Wall time (single-query, 1 RUN call)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1554480"/>
            <a:ext cx="2522143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11567F"/>
                </a:solidFill>
                <a:latin typeface="Calibri Light"/>
              </a:rPr>
              <a:t>0.35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02303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9423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Credits per run (79s × 16 cr/hr)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6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1554480"/>
            <a:ext cx="2522143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6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71D3DC"/>
                </a:solidFill>
                <a:latin typeface="Calibri Light"/>
              </a:rPr>
              <a:t>44.8M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98766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6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Raw rows exported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9469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1554480"/>
            <a:ext cx="2522143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2349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FF9F36"/>
                </a:solidFill>
                <a:latin typeface="Calibri Light"/>
              </a:rPr>
              <a:t>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95229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12349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Cols/rec (5 consumer + 1 p1.DATE_PARTITION)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39 / 60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Activation 1007 cols — GEN2_XLARGE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22143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29B5E8"/>
                </a:solidFill>
                <a:latin typeface="Calibri Light"/>
              </a:rPr>
              <a:t>83m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16s Wall time (secure_run_v2 dominates 94%)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1554480"/>
            <a:ext cx="2522143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11567F"/>
                </a:solidFill>
                <a:latin typeface="Calibri Light"/>
              </a:rPr>
              <a:t>22.2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02303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9423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Credits per run (4996s × 16 cr/hr)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6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1554480"/>
            <a:ext cx="2522143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6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71D3DC"/>
                </a:solidFill>
                <a:latin typeface="Calibri Light"/>
              </a:rPr>
              <a:t>44.8M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98766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6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Raw rows exported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9469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1554480"/>
            <a:ext cx="2522143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2349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FF9F36"/>
                </a:solidFill>
                <a:latin typeface="Calibri Light"/>
              </a:rPr>
              <a:t>1007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95229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12349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Cols/rec (6 consumer + 1000 provider + 1 metadata)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40 / 60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Activation 1007 cols — GEN2_2XLARGE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22143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29B5E8"/>
                </a:solidFill>
                <a:latin typeface="Calibri Light"/>
              </a:rPr>
              <a:t>44m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41s Wall time (secure_run_v2 dominates 94%)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1554480"/>
            <a:ext cx="2522143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11567F"/>
                </a:solidFill>
                <a:latin typeface="Calibri Light"/>
              </a:rPr>
              <a:t>23.8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02303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9423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Credits per run (2681s × 32 cr/hr)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6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1554480"/>
            <a:ext cx="2522143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6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71D3DC"/>
                </a:solidFill>
                <a:latin typeface="Calibri Light"/>
              </a:rPr>
              <a:t>44.8M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98766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6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Raw rows exported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9469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1554480"/>
            <a:ext cx="2522143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2349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FF9F36"/>
                </a:solidFill>
                <a:latin typeface="Calibri Light"/>
              </a:rPr>
              <a:t>1.86×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95229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12349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Speedup vs XL, cost +7%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41 / 60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6 Columns vs 1007 Columns Activation (both on GEN2_XLARGE)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Minimal — 6 Columns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79 s wall time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0.35 credits / run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44.8M rows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Use: campaign targeting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$1.37 per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327" y="1828800"/>
            <a:ext cx="457200" cy="45720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Full — 1007 Columns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4996 s (83 min) wall time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22.2 credits / run (63× more)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44.8M rows (same)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Use: ML / scoring / C360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$86.6 per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42 / 60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Warehouse Sizing — XL vs 2XL untuk 1007 Columns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GEN2_XLARGE (16 cr/hr)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83m 16s wall time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22.2 credits / run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$86.6 / run (std edition)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Cost-optimized overnight batch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327" y="1828800"/>
            <a:ext cx="457200" cy="45720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GEN2_2XLARGE (32 cr/hr) 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44m 41s wall time (1.86× faster)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23.8 credits / run (+7%)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$93.0 / run (std edition)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Sweet spot untuk SLA &lt; 1 hour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43 / 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Sub-Step Breakdown — XL vs 2XL (1007 cols activation)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secure_run_v2 (native-app join+build VARIANT) — XL: 4702 s | 2XL: 2518 s (1.87×) — DOMINATES 94%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direct_activation_to_runner — XL: 149 s | 2XL: 84 s (1.77×)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INSERT to SEGMENT_RECORDS — XL: 145 s | 2XL: 79 s (1.84×)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Total wall-clock — XL: 4996 s (83 min) | 2XL: 2681 s (45 min) — 1.86× speedup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Scaling vs column count NON-LINEAR — 6→1007 cols = 63× slower (bukan 3.8× seperti dugaan awal)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44 / 60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Cost Summary — Full Benchmark Matrix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6 cols @ XL — 79 s, 0.35 credits, $1.37 — cheap, untuk daily 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1007 cols @ XL — 4996 s (83 min), 22.2 credits, $86.6 — overnight batch 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1007 cols @ 2XL — 2681 s (45 min), 23.8 credits, $93.0 — faster batch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Cost per billion rows (1007 cols) — XL: 495 cr/B | 2XL: 531 cr/B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⚠️ Recommendation — 6-col activation + downstream enrichment 63× LEBIH HEMAT dari full 1007 cols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45 / 60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1-PARTITION BENCHMARK (150M × 1M)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1-Partition Analysis + Activation 1007 cols (GEN2_XLARGE)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22143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29B5E8"/>
                </a:solidFill>
                <a:latin typeface="Calibri Light"/>
              </a:rPr>
              <a:t>39s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Analysis (150M × 1M overlap count) — 0.17 credits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1554480"/>
            <a:ext cx="2522143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11567F"/>
                </a:solidFill>
                <a:latin typeface="Calibri Light"/>
              </a:rPr>
              <a:t>71m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02303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9423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Activation 1007 cols (700k rows × 1007 keys) — 19.04 credits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6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1554480"/>
            <a:ext cx="2522143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6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71D3DC"/>
                </a:solidFill>
                <a:latin typeface="Calibri Light"/>
              </a:rPr>
              <a:t>71m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98766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6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23s Total end-to-end — 19.04 credits ($74.3)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9469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1554480"/>
            <a:ext cx="2522143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2349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FF9F36"/>
                </a:solidFill>
                <a:latin typeface="Calibri Light"/>
              </a:rPr>
              <a:t>700k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95229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12349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Matched records exported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47 / 60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1-Partition vs All-8-Partitions (1007 cols, GEN2_XLARGE)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1 Partition (150M × 1M)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71 min total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19.04 credits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700k rows exported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$74.3 per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327" y="1828800"/>
            <a:ext cx="457200" cy="45720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8 Partitions (1.2B × 8M)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83 min total (1.18× longer)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22.2 credits (1.18× more)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44.8M rows exported (64×)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$86.6 per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48 / 60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Master Benchmark Matrix — Semua Konfigurasi (XL only)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1-part analysis 6 cols @ XL — 39 s, 0.17 credits, $0.67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analysis 6 cols @ XL — 57 s, 0.25 credits, $0.99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1-part activation 6 cols @ XL — 79 s, 0.35 credits, $1.37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activation 6 cols @ XL — 79 s, 0.35 credits, $1.37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1-part activation 1007 cols @ XL — 71 min, 19.04 credits, $74.3 ← NEW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activation 1007 cols @ XL — 83 min, 22.2 credits, $86.6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activation 1007 cols @ 2XL — 45 min, 23.8 credits, $93.0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49 / 60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Insight — 64× Rows tapi Hanya 1.18× Lebih Lama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secure_run_v2 bottleneck bukan volume data, tapi VARIANT serialization overhead per 1007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700k rows (1 part) vs 44.8M rows (8 part) → hanya ~13 min delta (18% slower)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Framework latency native-app (validate, build, serialize) dominasi — data scan cepat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Implikasi — menambah partisi MURAH secara incremental kalau 1007 cols sudah di-export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Mau optimisasi cost → KURANGI KOLOM (6 cols = 0.35 cr), bukan kurangi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50 / 60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1-Partition Analysis + Activation 1007 cols (GEN2_2XLARGE)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2522143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29B5E8"/>
                </a:solidFill>
                <a:latin typeface="Calibri Light"/>
              </a:rPr>
              <a:t>28s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Analysis (150M × 1M overlap count) — 0.25 credits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6543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1554480"/>
            <a:ext cx="2522143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11567F"/>
                </a:solidFill>
                <a:latin typeface="Calibri Light"/>
              </a:rPr>
              <a:t>38m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02303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19423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Activation 1007 cols (700k rows × 1007 keys) — 20.10 credits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6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1554480"/>
            <a:ext cx="2522143" cy="54864"/>
          </a:xfrm>
          <a:prstGeom prst="rect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6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71D3DC"/>
                </a:solidFill>
                <a:latin typeface="Calibri Light"/>
              </a:rPr>
              <a:t>38m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98766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6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9s Total end-to-end — 20.35 credits ($79.4)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9469" y="1554480"/>
            <a:ext cx="2522143" cy="457200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1554480"/>
            <a:ext cx="2522143" cy="54864"/>
          </a:xfrm>
          <a:prstGeom prst="rect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12349" y="228600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6200"/>
              </a:lnSpc>
            </a:pPr>
            <a:r>
              <a:rPr sz="4800" b="1" i="0">
                <a:solidFill>
                  <a:srgbClr val="FF9F36"/>
                </a:solidFill>
                <a:latin typeface="Calibri Light"/>
              </a:rPr>
              <a:t>1.87x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95229" y="4114800"/>
            <a:ext cx="1790623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12349" y="4297680"/>
            <a:ext cx="2156383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>
                <a:solidFill>
                  <a:srgbClr val="5D6D7E"/>
                </a:solidFill>
                <a:latin typeface="Segoe UI"/>
              </a:rPr>
              <a:t>Faster vs XL, cost +6.9%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51 / 60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1-Partition 1007 cols — XL vs 2XL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318607" cy="54864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GEN2_XLARGE (16 cr/hr)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71 min 23s total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19.04 credits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$74.3 per run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Cost-optimized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08760"/>
            <a:ext cx="5318607" cy="4754880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508760"/>
            <a:ext cx="5318607" cy="54864"/>
          </a:xfrm>
          <a:prstGeom prst="rect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7327" y="1828800"/>
            <a:ext cx="457200" cy="45720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182880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1687" y="1856232"/>
            <a:ext cx="4221327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300"/>
              </a:lnSpc>
            </a:pPr>
            <a:r>
              <a:rPr sz="1800" b="1" i="0">
                <a:solidFill>
                  <a:srgbClr val="11567F"/>
                </a:solidFill>
                <a:latin typeface="Calibri Light"/>
              </a:rPr>
              <a:t>GEN2_2XLARGE (32 cr/hr) 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15887" y="2468880"/>
            <a:ext cx="4952847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15887" y="2606040"/>
            <a:ext cx="4952847" cy="3383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38 min 9s total (1.87× faster)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20.35 credits (+6.9%)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$79.4 per run</a:t>
            </a:r>
          </a:p>
          <a:p>
            <a:pPr>
              <a:lnSpc>
                <a:spcPts val="2400"/>
              </a:lnSpc>
              <a:spcAft>
                <a:spcPts val="1000"/>
              </a:spcAft>
            </a:pPr>
            <a:r>
              <a:rPr sz="800">
                <a:solidFill>
                  <a:srgbClr val="11567F"/>
                </a:solidFill>
                <a:latin typeface="Segoe UI"/>
              </a:rPr>
              <a:t>●  </a:t>
            </a:r>
            <a:r>
              <a:rPr sz="1500">
                <a:solidFill>
                  <a:srgbClr val="2C3E50"/>
                </a:solidFill>
                <a:latin typeface="Segoe UI"/>
              </a:rPr>
              <a:t>SLA winner untuk single partition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52 / 60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Sub-Step Breakdown — 1-Partition 1007 cols (XL vs 2XL)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secure_run_v2 — XL: 4214 s (70m 15s) | 2XL: 2234 s (37m 14s) — 1.89× speedup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direct_activation_to_runner — XL: 12.3 s | 2XL: 10.4 s — 1.18× speedup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INSERT to SEGMENT_RECORDS — XL: 5.7 s | 2XL: 5.3 s — 1.07× speedup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Total activation — XL: 71 min | 2XL: 38 min — 1.88× speedup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secure_run_v2 DOMINATES 99% — write phase nyaris tidak scale dengan warehouse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53 / 60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Master Benchmark Matrix — All 8 Configurations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1-part analysis 6 cols @ XL — 39 s, 0.17 credits, $0.67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analysis 6 cols @ XL — 57 s, 0.25 credits, $0.99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1-part activation 6 cols @ XL — 79 s, 0.35 credits, $1.37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activation 6 cols @ XL — 79 s, 0.35 credits, $1.37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1-part activation 1007 cols @ XL — 71 min, 19.04 credits, $74.3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activation 1007 cols @ XL — 83 min, 22.2 credits, $86.6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8-part activation 1007 cols @ 2XL — 45 min, 23.8 credits, $93.0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1-part activation 1007 cols @ 2XL — 38 min, 20.35 credits, $79.4 ←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54 / 60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320040"/>
            <a:ext cx="449214" cy="4114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2300"/>
              </a:lnSpc>
            </a:pPr>
            <a:r>
              <a:rPr sz="1800" b="0" i="0">
                <a:solidFill>
                  <a:srgbClr val="FFFFFF"/>
                </a:solidFill>
                <a:latin typeface="Segoe UI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9144000" cy="2286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200" b="1" i="0">
                <a:solidFill>
                  <a:srgbClr val="FFFFFF"/>
                </a:solidFill>
                <a:latin typeface="Calibri Light"/>
              </a:rPr>
              <a:t>SUMMARY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Production-Ready Performance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Proven at scale — 1.2B rows × 1001 kolom full-scan dalam 2 menit 16 detik via single-query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5× faster than per-partition loop — 1 RUN call menggantikan 8 sequential calls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80% compute cost savings — 0.61 credits vs 3.02 credits per run @ GEN2_XLARGE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3.37M unique audience tuples exported secara secure tanpa data movement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Privacy-preserving by design — UU PDP &amp; POJK compliant dengan full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56 / 60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Bottom 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2m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16s End-to-end single-query full-scan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0.61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Credits per run (80% cheaper than loop)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1.2B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Provider rows fully scanned in 1 query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3.37M</a:t>
            </a:r>
          </a:p>
          <a:p>
            <a:pPr>
              <a:lnSpc>
                <a:spcPts val="2500"/>
              </a:lnSpc>
              <a:spcAft>
                <a:spcPts val="1000"/>
              </a:spcAft>
            </a:pPr>
            <a:r>
              <a:rPr sz="800">
                <a:solidFill>
                  <a:srgbClr val="29B5E8"/>
                </a:solidFill>
                <a:latin typeface="Segoe UI"/>
              </a:rPr>
              <a:t>●  </a:t>
            </a:r>
            <a:r>
              <a:rPr sz="1600">
                <a:solidFill>
                  <a:srgbClr val="2C3E50"/>
                </a:solidFill>
                <a:latin typeface="Segoe UI"/>
              </a:rPr>
              <a:t>Unique audience tuples (identical in both modes)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57 / 60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31375" y="-914400"/>
            <a:ext cx="3200400" cy="3200400"/>
          </a:xfrm>
          <a:prstGeom prst="ellipse">
            <a:avLst/>
          </a:prstGeom>
          <a:solidFill>
            <a:srgbClr val="D6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640080" y="5029200"/>
            <a:ext cx="1828800" cy="18288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nowflake_icon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455" y="320040"/>
            <a:ext cx="349389" cy="3200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57200"/>
            <a:ext cx="54864" cy="50292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1480"/>
            <a:ext cx="100584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 i="0">
                <a:solidFill>
                  <a:srgbClr val="1B2A3D"/>
                </a:solidFill>
                <a:latin typeface="Calibri Light"/>
              </a:rPr>
              <a:t>References &amp; Code Repository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234440"/>
            <a:ext cx="11094415" cy="0"/>
          </a:xfrm>
          <a:prstGeom prst="line">
            <a:avLst/>
          </a:prstGeom>
          <a:ln w="12700">
            <a:solidFill>
              <a:srgbClr val="DE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15544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6276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GitHub — https://github.com/arzamuhammad/dcr-collaboration-api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06040"/>
            <a:ext cx="411480" cy="411480"/>
          </a:xfrm>
          <a:prstGeom prst="ellipse">
            <a:avLst/>
          </a:prstGeom>
          <a:solidFill>
            <a:srgbClr val="115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420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Contains — provider_workflow.sql, consumer_workflow.sql, README dengan battle-tested fixes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832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411480" cy="411480"/>
          </a:xfrm>
          <a:prstGeom prst="ellipse">
            <a:avLst/>
          </a:prstGeom>
          <a:solidFill>
            <a:srgbClr val="71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04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4564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Snowflake Docs — docs.snowflake.com/en/user-guide/cleanrooms/v2/about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97680"/>
            <a:ext cx="10911535" cy="804672"/>
          </a:xfrm>
          <a:prstGeom prst="round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434840"/>
            <a:ext cx="411480" cy="411480"/>
          </a:xfrm>
          <a:prstGeom prst="ellipse">
            <a:avLst/>
          </a:prstGeom>
          <a:solidFill>
            <a:srgbClr val="FF9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3708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Spec Reference — docs.snowflake.com/en/user-guide/cleanrooms/v2/spec-reference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12080"/>
            <a:ext cx="10911535" cy="804672"/>
          </a:xfrm>
          <a:prstGeom prst="round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49240"/>
            <a:ext cx="411480" cy="411480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41148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285232"/>
            <a:ext cx="9601200" cy="768096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ts val="2000"/>
              </a:lnSpc>
            </a:pPr>
            <a:r>
              <a:rPr sz="1600" b="0" i="0">
                <a:solidFill>
                  <a:srgbClr val="2C3E50"/>
                </a:solidFill>
                <a:latin typeface="Segoe UI"/>
              </a:rPr>
              <a:t>API Reference — docs.snowflake.com/en/user-guide/cleanrooms/v2/v2-api-reference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100"/>
              </a:lnSpc>
            </a:pPr>
            <a:r>
              <a:rPr sz="900" b="0" i="0">
                <a:solidFill>
                  <a:srgbClr val="95A5A6"/>
                </a:solidFill>
                <a:latin typeface="Segoe UI"/>
              </a:rPr>
              <a:t>DCR Collaboration API v2 | SFSEAPAC | 2026   ·   58 / 60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320040"/>
            <a:ext cx="399301" cy="3657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914400" y="1371600"/>
            <a:ext cx="1097280" cy="1097280"/>
          </a:xfrm>
          <a:prstGeom prst="ellipse">
            <a:avLst/>
          </a:prstGeom>
          <a:solidFill>
            <a:srgbClr val="15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05840"/>
            <a:ext cx="137160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5600"/>
              </a:lnSpc>
            </a:pPr>
            <a:r>
              <a:rPr sz="12000" b="0" i="0">
                <a:solidFill>
                  <a:srgbClr val="29B5E8"/>
                </a:solidFill>
                <a:latin typeface="Georgia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601200" cy="2560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2600" b="0" i="1">
                <a:solidFill>
                  <a:srgbClr val="FFFFFF"/>
                </a:solidFill>
                <a:latin typeface="Georgia"/>
              </a:rPr>
              <a:t>1.2B rows joined with 8M in 2 minutes 16 seconds, 0.61 credits, single query, zero raw data exchange — this is the future of secure multi-party analytics.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394960"/>
            <a:ext cx="731520" cy="36576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73152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>
                <a:solidFill>
                  <a:srgbClr val="71D3DC"/>
                </a:solidFill>
                <a:latin typeface="Segoe UI"/>
              </a:rPr>
              <a:t>DCR Single-Query Benchmark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05695" y="-731520"/>
            <a:ext cx="2743200" cy="2743200"/>
          </a:xfrm>
          <a:prstGeom prst="ellipse">
            <a:avLst/>
          </a:prstGeom>
          <a:solidFill>
            <a:srgbClr val="223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6895" y="5486400"/>
            <a:ext cx="1828800" cy="1828800"/>
          </a:xfrm>
          <a:prstGeom prst="ellipse">
            <a:avLst/>
          </a:prstGeom>
          <a:solidFill>
            <a:srgbClr val="1F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4572000"/>
            <a:ext cx="1371600" cy="1371600"/>
          </a:xfrm>
          <a:prstGeom prst="ellipse">
            <a:avLst/>
          </a:prstGeom>
          <a:solidFill>
            <a:srgbClr val="20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gradFill rotWithShape="1">
            <a:gsLst>
              <a:gs pos="0">
                <a:srgbClr val="29B5E8"/>
              </a:gs>
              <a:gs pos="100000">
                <a:srgbClr val="71D3D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gradFill rotWithShape="1">
            <a:gsLst>
              <a:gs pos="0">
                <a:srgbClr val="71D3DC"/>
              </a:gs>
              <a:gs pos="100000">
                <a:srgbClr val="29B5E8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nowflake_ic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88720"/>
            <a:ext cx="1197904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sz="60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sz="2000" b="0" i="0">
                <a:solidFill>
                  <a:srgbClr val="71D3DC"/>
                </a:solidFill>
                <a:latin typeface="Segoe UI"/>
              </a:rPr>
              <a:t>github.com/arzamuhammad/dcr-collaboration-api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5394960"/>
            <a:ext cx="3931920" cy="45720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5394960"/>
            <a:ext cx="39319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ardiyan.muhammad@snowflake.com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